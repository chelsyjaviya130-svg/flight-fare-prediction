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7B2F9-ACA8-4D9F-9220-B1E3785CF589}" v="1" dt="2026-10-22T16:46:26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2" autoAdjust="0"/>
    <p:restoredTop sz="94660"/>
  </p:normalViewPr>
  <p:slideViewPr>
    <p:cSldViewPr snapToGrid="0" snapToObjects="1">
      <p:cViewPr>
        <p:scale>
          <a:sx n="87" d="100"/>
          <a:sy n="87" d="100"/>
        </p:scale>
        <p:origin x="298" y="-2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wat bhatnagar" userId="02d9211bee202313" providerId="LiveId" clId="{8CE94614-F652-4935-AEC7-7B08F3B49B3D}"/>
    <pc:docChg chg="modSld">
      <pc:chgData name="shaswat bhatnagar" userId="02d9211bee202313" providerId="LiveId" clId="{8CE94614-F652-4935-AEC7-7B08F3B49B3D}" dt="2026-10-22T16:46:26.443" v="0"/>
      <pc:docMkLst>
        <pc:docMk/>
      </pc:docMkLst>
      <pc:sldChg chg="modSp">
        <pc:chgData name="shaswat bhatnagar" userId="02d9211bee202313" providerId="LiveId" clId="{8CE94614-F652-4935-AEC7-7B08F3B49B3D}" dt="2026-10-22T16:46:26.443" v="0"/>
        <pc:sldMkLst>
          <pc:docMk/>
          <pc:sldMk cId="0" sldId="266"/>
        </pc:sldMkLst>
        <pc:spChg chg="mod">
          <ac:chgData name="shaswat bhatnagar" userId="02d9211bee202313" providerId="LiveId" clId="{8CE94614-F652-4935-AEC7-7B08F3B49B3D}" dt="2026-10-22T16:46:26.443" v="0"/>
          <ac:spMkLst>
            <pc:docMk/>
            <pc:sldMk cId="0" sldId="266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BC2D8F-8210-42D8-9592-1306230A6C75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F390E-CB15-48E6-ABD9-6A1E87624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81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F390E-CB15-48E6-ABD9-6A1E876248B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686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swat44/Flight-fare-Prediction?utm_source=chatgpt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66760" y="0"/>
            <a:ext cx="3824935" cy="6858000"/>
          </a:xfrm>
          <a:prstGeom prst="rect">
            <a:avLst/>
          </a:prstGeom>
          <a:solidFill>
            <a:srgbClr val="0D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915400" y="594360"/>
            <a:ext cx="2011680" cy="2011680"/>
          </a:xfrm>
          <a:prstGeom prst="ellipse">
            <a:avLst/>
          </a:prstGeom>
          <a:solidFill>
            <a:srgbClr val="145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21240" y="1325880"/>
            <a:ext cx="1051560" cy="1051560"/>
          </a:xfrm>
          <a:prstGeom prst="ellipse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61320" y="4251960"/>
            <a:ext cx="1051560" cy="1051560"/>
          </a:xfrm>
          <a:prstGeom prst="ellipse">
            <a:avLst/>
          </a:prstGeom>
          <a:solidFill>
            <a:srgbClr val="145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32520" y="5074920"/>
            <a:ext cx="566928" cy="566928"/>
          </a:xfrm>
          <a:prstGeom prst="ellipse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8869680" y="1280160"/>
            <a:ext cx="594360" cy="594359"/>
          </a:xfrm>
          <a:prstGeom prst="line">
            <a:avLst/>
          </a:prstGeom>
          <a:ln w="25400">
            <a:solidFill>
              <a:srgbClr val="2ED2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464040" y="1874519"/>
            <a:ext cx="685800" cy="457201"/>
          </a:xfrm>
          <a:prstGeom prst="line">
            <a:avLst/>
          </a:prstGeom>
          <a:ln w="25400">
            <a:solidFill>
              <a:srgbClr val="2ED2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149840" y="2331720"/>
            <a:ext cx="640080" cy="822960"/>
          </a:xfrm>
          <a:prstGeom prst="line">
            <a:avLst/>
          </a:prstGeom>
          <a:ln w="25400">
            <a:solidFill>
              <a:srgbClr val="2ED2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561320" y="3154680"/>
            <a:ext cx="228600" cy="822959"/>
          </a:xfrm>
          <a:prstGeom prst="line">
            <a:avLst/>
          </a:prstGeom>
          <a:ln w="25400">
            <a:solidFill>
              <a:srgbClr val="2ED2E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p Arrow 10"/>
          <p:cNvSpPr/>
          <p:nvPr/>
        </p:nvSpPr>
        <p:spPr>
          <a:xfrm rot="2580000">
            <a:off x="9692640" y="2240280"/>
            <a:ext cx="1417320" cy="1828800"/>
          </a:xfrm>
          <a:prstGeom prst="upArrow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23960" y="3822191"/>
            <a:ext cx="1005840" cy="329184"/>
          </a:xfrm>
          <a:prstGeom prst="ellipse">
            <a:avLst/>
          </a:prstGeom>
          <a:solidFill>
            <a:srgbClr val="E1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326880" y="3685032"/>
            <a:ext cx="1051560" cy="384048"/>
          </a:xfrm>
          <a:prstGeom prst="ellipse">
            <a:avLst/>
          </a:prstGeom>
          <a:solidFill>
            <a:srgbClr val="E1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58400" y="3822191"/>
            <a:ext cx="960120" cy="310896"/>
          </a:xfrm>
          <a:prstGeom prst="ellipse">
            <a:avLst/>
          </a:prstGeom>
          <a:solidFill>
            <a:srgbClr val="E1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378440" y="5559552"/>
            <a:ext cx="868680" cy="274320"/>
          </a:xfrm>
          <a:prstGeom prst="ellipse">
            <a:avLst/>
          </a:prstGeom>
          <a:solidFill>
            <a:srgbClr val="E1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789920" y="5468112"/>
            <a:ext cx="685800" cy="310896"/>
          </a:xfrm>
          <a:prstGeom prst="ellipse">
            <a:avLst/>
          </a:prstGeom>
          <a:solidFill>
            <a:srgbClr val="E1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685800"/>
            <a:ext cx="7132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ED2EB"/>
                </a:solidFill>
                <a:latin typeface="Aptos"/>
              </a:defRPr>
            </a:pPr>
            <a:r>
              <a:t>INTERNSHIP PROJECT  •  OCTOBER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1280160"/>
            <a:ext cx="722376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4600" b="1">
                <a:solidFill>
                  <a:srgbClr val="F7FBFF"/>
                </a:solidFill>
                <a:latin typeface="Aptos"/>
              </a:defRPr>
            </a:pPr>
            <a:r>
              <a:t>AeroFare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176272"/>
            <a:ext cx="722376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B8CDE0"/>
                </a:solidFill>
                <a:latin typeface="Aptos"/>
              </a:defRPr>
            </a:pPr>
            <a:r>
              <a:t>Flight Price Prediction</a:t>
            </a:r>
          </a:p>
          <a:p>
            <a:pPr algn="l">
              <a:spcAft>
                <a:spcPts val="400"/>
              </a:spcAft>
              <a:defRPr sz="2600" b="1">
                <a:solidFill>
                  <a:srgbClr val="B8CDE0"/>
                </a:solidFill>
                <a:latin typeface="Aptos"/>
              </a:defRPr>
            </a:pPr>
            <a:r>
              <a:t>Using Machine Learning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3566160"/>
            <a:ext cx="868680" cy="54864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858768"/>
            <a:ext cx="70408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ED2EB"/>
                </a:solidFill>
                <a:latin typeface="Aptos"/>
              </a:defRPr>
            </a:pPr>
            <a:r>
              <a:t>SUBMITTED 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87952"/>
            <a:ext cx="7269480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7FBFF"/>
                </a:solidFill>
                <a:latin typeface="Aptos"/>
              </a:defRPr>
            </a:pPr>
            <a:r>
              <a:rPr dirty="0"/>
              <a:t>Shaswat Bhatnagar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F7FBFF"/>
                </a:solidFill>
                <a:latin typeface="Aptos"/>
              </a:defRPr>
            </a:pPr>
            <a:r>
              <a:rPr dirty="0"/>
              <a:t>Kanishka Gaikwad  •  </a:t>
            </a:r>
            <a:r>
              <a:rPr dirty="0" err="1"/>
              <a:t>Javiya</a:t>
            </a:r>
            <a:r>
              <a:rPr dirty="0"/>
              <a:t> Chelsy RajeshKumar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49240"/>
            <a:ext cx="7223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B8CDE0"/>
                </a:solidFill>
                <a:latin typeface="Aptos"/>
              </a:defRPr>
            </a:pPr>
            <a:r>
              <a:t>Naviotech Solution Pvt. Ltd.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06440"/>
            <a:ext cx="722376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rPr dirty="0"/>
              <a:t>Submission Date: </a:t>
            </a:r>
            <a:r>
              <a:rPr lang="en-US" dirty="0"/>
              <a:t>30 </a:t>
            </a:r>
            <a:r>
              <a:rPr dirty="0"/>
              <a:t>October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8CDE0"/>
                </a:solidFill>
                <a:latin typeface="Aptos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ED2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698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7FB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960120"/>
            <a:ext cx="10515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What AeroFare does and 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629400" cy="43434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7FBFF"/>
                </a:solidFill>
                <a:latin typeface="Aptos"/>
              </a:defRPr>
            </a:pPr>
            <a:r>
              <a:t>•  AeroFare is a Machine Learning-based application designed to predict estimated flight ticket prices.</a:t>
            </a:r>
          </a:p>
          <a:p>
            <a:pPr>
              <a:spcAft>
                <a:spcPts val="900"/>
              </a:spcAft>
              <a:defRPr sz="1600">
                <a:solidFill>
                  <a:srgbClr val="F7FBFF"/>
                </a:solidFill>
                <a:latin typeface="Aptos"/>
              </a:defRPr>
            </a:pPr>
            <a:r>
              <a:t>•  Flight fares vary by airline, source, destination, travel class, departure time, journey duration, and number of stops.</a:t>
            </a:r>
          </a:p>
          <a:p>
            <a:pPr>
              <a:spcAft>
                <a:spcPts val="900"/>
              </a:spcAft>
              <a:defRPr sz="1600">
                <a:solidFill>
                  <a:srgbClr val="F7FBFF"/>
                </a:solidFill>
                <a:latin typeface="Aptos"/>
              </a:defRPr>
            </a:pPr>
            <a:r>
              <a:t>•  Manually estimating flight prices is difficult because several factors affect the final fare.</a:t>
            </a:r>
          </a:p>
          <a:p>
            <a:pPr>
              <a:spcAft>
                <a:spcPts val="900"/>
              </a:spcAft>
              <a:defRPr sz="1600">
                <a:solidFill>
                  <a:srgbClr val="F7FBFF"/>
                </a:solidFill>
                <a:latin typeface="Aptos"/>
              </a:defRPr>
            </a:pPr>
            <a:r>
              <a:t>•  AeroFare uses historical flight data to identify patterns and predict fares.</a:t>
            </a:r>
          </a:p>
          <a:p>
            <a:pPr>
              <a:spcAft>
                <a:spcPts val="900"/>
              </a:spcAft>
              <a:defRPr sz="1600">
                <a:solidFill>
                  <a:srgbClr val="F7FBFF"/>
                </a:solidFill>
                <a:latin typeface="Aptos"/>
              </a:defRPr>
            </a:pPr>
            <a:r>
              <a:t>•  The trained Random Forest Regression model is integrated into an interactive Streamlit web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828800"/>
            <a:ext cx="3520440" cy="214884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818120" y="1874519"/>
            <a:ext cx="50292" cy="2057400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82712" y="1956816"/>
            <a:ext cx="32278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2ED2EB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2712" y="2395728"/>
            <a:ext cx="3209544" cy="1490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F7FBFF"/>
                </a:solidFill>
                <a:latin typeface="Aptos"/>
              </a:defRPr>
            </a:pPr>
            <a:r>
              <a:t>Provide users with estimated flight ticket prices based on their selected journey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4297680"/>
            <a:ext cx="3520440" cy="114300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18120" y="4343400"/>
            <a:ext cx="502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82712" y="4425696"/>
            <a:ext cx="32278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0F766E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4864608"/>
            <a:ext cx="3209544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7FBFF"/>
                </a:solidFill>
                <a:latin typeface="Aptos"/>
              </a:defRPr>
            </a:pPr>
            <a:r>
              <a:t>Historical data → learned patterns → estimated fare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8CDE0"/>
                </a:solidFill>
                <a:latin typeface="Aptos"/>
              </a:defRPr>
            </a:pPr>
            <a:r>
              <a:t>AEROFARE  |  FLIGHT PRICE PREDICTION USING MACHINE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8CDE0"/>
                </a:solidFill>
                <a:latin typeface="Aptos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ED2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698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7FBFF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983480" cy="452628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" cy="4434840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2970" y="1549908"/>
            <a:ext cx="469087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2ED2EB"/>
                </a:solidFill>
                <a:latin typeface="Aptos"/>
              </a:defRPr>
            </a:pPr>
            <a:r>
              <a:rPr dirty="0"/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92807"/>
            <a:ext cx="4672584" cy="3867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F7FBFF"/>
                </a:solidFill>
                <a:latin typeface="Aptos"/>
              </a:defRPr>
            </a:pPr>
            <a:r>
              <a:t>Flight ticket prices vary based on several factors, making fares difficult to estimate manually. Machine Learning can analyze historical flight data and predict estimated ticket prices from journey details.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371600"/>
            <a:ext cx="5029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2ED2EB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828800"/>
            <a:ext cx="5166360" cy="4114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7FBFF"/>
                </a:solidFill>
                <a:latin typeface="Aptos"/>
              </a:defRPr>
            </a:pPr>
            <a:r>
              <a:t>•  Analyze historical flight price data.</a:t>
            </a:r>
          </a:p>
          <a:p>
            <a:pPr>
              <a:spcAft>
                <a:spcPts val="800"/>
              </a:spcAft>
              <a:defRPr sz="1600">
                <a:solidFill>
                  <a:srgbClr val="F7FBFF"/>
                </a:solidFill>
                <a:latin typeface="Aptos"/>
              </a:defRPr>
            </a:pPr>
            <a:r>
              <a:t>•  Identify important factors affecting ticket prices.</a:t>
            </a:r>
          </a:p>
          <a:p>
            <a:pPr>
              <a:spcAft>
                <a:spcPts val="800"/>
              </a:spcAft>
              <a:defRPr sz="1600">
                <a:solidFill>
                  <a:srgbClr val="F7FBFF"/>
                </a:solidFill>
                <a:latin typeface="Aptos"/>
              </a:defRPr>
            </a:pPr>
            <a:r>
              <a:t>•  Preprocess and prepare data for Machine Learning.</a:t>
            </a:r>
          </a:p>
          <a:p>
            <a:pPr>
              <a:spcAft>
                <a:spcPts val="800"/>
              </a:spcAft>
              <a:defRPr sz="1600">
                <a:solidFill>
                  <a:srgbClr val="F7FBFF"/>
                </a:solidFill>
                <a:latin typeface="Aptos"/>
              </a:defRPr>
            </a:pPr>
            <a:r>
              <a:t>•  Train a Random Forest Regression model.</a:t>
            </a:r>
          </a:p>
          <a:p>
            <a:pPr>
              <a:spcAft>
                <a:spcPts val="800"/>
              </a:spcAft>
              <a:defRPr sz="1600">
                <a:solidFill>
                  <a:srgbClr val="F7FBFF"/>
                </a:solidFill>
                <a:latin typeface="Aptos"/>
              </a:defRPr>
            </a:pPr>
            <a:r>
              <a:t>•  Evaluate performance using MAE, RMSE, and R².</a:t>
            </a:r>
          </a:p>
          <a:p>
            <a:pPr>
              <a:spcAft>
                <a:spcPts val="800"/>
              </a:spcAft>
              <a:defRPr sz="1600">
                <a:solidFill>
                  <a:srgbClr val="F7FBFF"/>
                </a:solidFill>
                <a:latin typeface="Aptos"/>
              </a:defRPr>
            </a:pPr>
            <a:r>
              <a:t>•  Develop an interactive Streamlit application.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8CDE0"/>
                </a:solidFill>
                <a:latin typeface="Aptos"/>
              </a:defRPr>
            </a:pPr>
            <a:r>
              <a:t>AEROFARE  |  FLIGHT PRICE PREDICTION USING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8CDE0"/>
                </a:solidFill>
                <a:latin typeface="Aptos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ED2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698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7FBFF"/>
                </a:solidFill>
                <a:latin typeface="Aptos"/>
              </a:defRPr>
            </a:pPr>
            <a:r>
              <a:t>Project Overview &amp;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960120"/>
            <a:ext cx="10515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End-to-end process from historical data to fare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6984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B8CDE0"/>
                </a:solidFill>
                <a:latin typeface="Aptos"/>
              </a:defRPr>
            </a:pPr>
            <a:r>
              <a:t>AeroFare follows an end-to-end Machine Learning workflow to estimate flight ticket prices.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2560320" cy="960120"/>
          </a:xfrm>
          <a:prstGeom prst="roundRect">
            <a:avLst/>
          </a:prstGeom>
          <a:solidFill>
            <a:srgbClr val="0D2B4B"/>
          </a:solidFill>
          <a:ln>
            <a:solidFill>
              <a:srgbClr val="2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2331720"/>
            <a:ext cx="34747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59152"/>
            <a:ext cx="1993391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7FBFF"/>
                </a:solidFill>
                <a:latin typeface="Aptos"/>
              </a:defRPr>
            </a:pPr>
            <a:r>
              <a:t>Data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7FBFF"/>
                </a:solidFill>
                <a:latin typeface="Aptos"/>
              </a:defRPr>
            </a:pPr>
            <a:r>
              <a:t>Collection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36975" y="2720340"/>
            <a:ext cx="210313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2240280"/>
            <a:ext cx="2560320" cy="960120"/>
          </a:xfrm>
          <a:prstGeom prst="roundRect">
            <a:avLst/>
          </a:prstGeom>
          <a:solidFill>
            <a:srgbClr val="0D2B4B"/>
          </a:solidFill>
          <a:ln>
            <a:solidFill>
              <a:srgbClr val="2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4448" y="2331720"/>
            <a:ext cx="34747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2359152"/>
            <a:ext cx="1993391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7FBFF"/>
                </a:solidFill>
                <a:latin typeface="Aptos"/>
              </a:defRPr>
            </a:pPr>
            <a:r>
              <a:t>Inspect &amp;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7FBFF"/>
                </a:solidFill>
                <a:latin typeface="Aptos"/>
              </a:defRPr>
            </a:pPr>
            <a:r>
              <a:t>Clean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53327" y="2720340"/>
            <a:ext cx="210313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91072" y="2240280"/>
            <a:ext cx="2560320" cy="960120"/>
          </a:xfrm>
          <a:prstGeom prst="roundRect">
            <a:avLst/>
          </a:prstGeom>
          <a:solidFill>
            <a:srgbClr val="0D2B4B"/>
          </a:solidFill>
          <a:ln>
            <a:solidFill>
              <a:srgbClr val="2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331720"/>
            <a:ext cx="34747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5704" y="2359152"/>
            <a:ext cx="1993391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7FBFF"/>
                </a:solidFill>
                <a:latin typeface="Aptos"/>
              </a:defRPr>
            </a:pPr>
            <a:r>
              <a:t>Feature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7FBFF"/>
                </a:solidFill>
                <a:latin typeface="Aptos"/>
              </a:defRPr>
            </a:pPr>
            <a:r>
              <a:t>Preparation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69680" y="2720340"/>
            <a:ext cx="210312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07424" y="2240280"/>
            <a:ext cx="2560320" cy="960120"/>
          </a:xfrm>
          <a:prstGeom prst="roundRect">
            <a:avLst/>
          </a:prstGeom>
          <a:solidFill>
            <a:srgbClr val="0D2B4B"/>
          </a:solidFill>
          <a:ln>
            <a:solidFill>
              <a:srgbClr val="2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17152" y="2331720"/>
            <a:ext cx="34747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92056" y="2359152"/>
            <a:ext cx="1993391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7FBFF"/>
                </a:solidFill>
                <a:latin typeface="Aptos"/>
              </a:defRPr>
            </a:pPr>
            <a:r>
              <a:t>Train/Test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7FBFF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31920"/>
            <a:ext cx="2560320" cy="960120"/>
          </a:xfrm>
          <a:prstGeom prst="roundRect">
            <a:avLst/>
          </a:prstGeom>
          <a:solidFill>
            <a:srgbClr val="145D8E"/>
          </a:solidFill>
          <a:ln>
            <a:solidFill>
              <a:srgbClr val="2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4023360"/>
            <a:ext cx="34747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050792"/>
            <a:ext cx="1993391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7FBFF"/>
                </a:solidFill>
                <a:latin typeface="Aptos"/>
              </a:defRPr>
            </a:pPr>
            <a:r>
              <a:t>Train Random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7FBFF"/>
                </a:solidFill>
                <a:latin typeface="Aptos"/>
              </a:defRPr>
            </a:pPr>
            <a:r>
              <a:t>Forest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36975" y="4411980"/>
            <a:ext cx="210313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474720" y="3931920"/>
            <a:ext cx="2560320" cy="960120"/>
          </a:xfrm>
          <a:prstGeom prst="roundRect">
            <a:avLst/>
          </a:prstGeom>
          <a:solidFill>
            <a:srgbClr val="145D8E"/>
          </a:solidFill>
          <a:ln>
            <a:solidFill>
              <a:srgbClr val="2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84448" y="4023360"/>
            <a:ext cx="34747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9352" y="4050792"/>
            <a:ext cx="1993391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7FBFF"/>
                </a:solidFill>
                <a:latin typeface="Aptos"/>
              </a:defRPr>
            </a:pPr>
            <a:r>
              <a:t>Evaluate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7FBFF"/>
                </a:solidFill>
                <a:latin typeface="Aptos"/>
              </a:defRPr>
            </a:pPr>
            <a:r>
              <a:t>Model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53327" y="4411980"/>
            <a:ext cx="210313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91072" y="3931920"/>
            <a:ext cx="2560320" cy="960120"/>
          </a:xfrm>
          <a:prstGeom prst="roundRect">
            <a:avLst/>
          </a:prstGeom>
          <a:solidFill>
            <a:srgbClr val="145D8E"/>
          </a:solidFill>
          <a:ln>
            <a:solidFill>
              <a:srgbClr val="2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60"/>
            <a:ext cx="34747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5704" y="4050792"/>
            <a:ext cx="1993391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7FBFF"/>
                </a:solidFill>
                <a:latin typeface="Aptos"/>
              </a:defRPr>
            </a:pPr>
            <a:r>
              <a:t>Build Streamlit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7FBFF"/>
                </a:solidFill>
                <a:latin typeface="Aptos"/>
              </a:defRPr>
            </a:pPr>
            <a:r>
              <a:t>App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69680" y="4411980"/>
            <a:ext cx="210312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07424" y="3931920"/>
            <a:ext cx="2560320" cy="960120"/>
          </a:xfrm>
          <a:prstGeom prst="roundRect">
            <a:avLst/>
          </a:prstGeom>
          <a:solidFill>
            <a:srgbClr val="145D8E"/>
          </a:solidFill>
          <a:ln>
            <a:solidFill>
              <a:srgbClr val="2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17152" y="4023360"/>
            <a:ext cx="34747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2056" y="4050792"/>
            <a:ext cx="1993391" cy="6583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7FBFF"/>
                </a:solidFill>
                <a:latin typeface="Aptos"/>
              </a:defRPr>
            </a:pPr>
            <a:r>
              <a:t>Cloud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7FBFF"/>
                </a:solidFill>
                <a:latin typeface="Aptos"/>
              </a:defRPr>
            </a:pPr>
            <a:r>
              <a:t>Deployment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972800" y="3310128"/>
            <a:ext cx="0" cy="512063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51560" y="5623560"/>
            <a:ext cx="10058400" cy="566928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51560" y="5669280"/>
            <a:ext cx="50292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16151" y="5751576"/>
            <a:ext cx="97657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F766E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1" y="5961888"/>
            <a:ext cx="9747504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7FBFF"/>
                </a:solidFill>
                <a:latin typeface="Aptos"/>
              </a:defRPr>
            </a:pPr>
            <a:r>
              <a:rPr dirty="0"/>
              <a:t>Interactive web application that estimates fares from user-provided journey details.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9672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8CDE0"/>
                </a:solidFill>
                <a:latin typeface="Aptos"/>
              </a:defRPr>
            </a:pPr>
            <a:r>
              <a:t>AEROFARE  |  FLIGHT PRICE PREDICTION USING MACHINE 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8CDE0"/>
                </a:solidFill>
                <a:latin typeface="Aptos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ED2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698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7FBFF"/>
                </a:solidFill>
                <a:latin typeface="Aptos"/>
              </a:defRPr>
            </a:pPr>
            <a:r>
              <a:t>Dataset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960120"/>
            <a:ext cx="10515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Historical flight fare data used to train and evaluate the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514600" cy="109728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481328"/>
            <a:ext cx="22860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2ED2EB"/>
                </a:solidFill>
                <a:latin typeface="Aptos"/>
              </a:defRPr>
            </a:pPr>
            <a:r>
              <a:t>300,257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65960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B8CDE0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448" y="1325880"/>
            <a:ext cx="2514600" cy="109728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94176" y="1481328"/>
            <a:ext cx="22860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2ED2EB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1965960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B8CDE0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37376" y="1325880"/>
            <a:ext cx="2514600" cy="109728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7104" y="1481328"/>
            <a:ext cx="22860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2ED2E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965960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B8CDE0"/>
                </a:solidFill>
                <a:latin typeface="Aptos"/>
              </a:defRPr>
            </a:pPr>
            <a:r>
              <a:t>Missing values reported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0304" y="1325880"/>
            <a:ext cx="2514600" cy="109728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00032" y="1481328"/>
            <a:ext cx="22860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2ED2E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1965960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B8CDE0"/>
                </a:solidFill>
                <a:latin typeface="Aptos"/>
              </a:defRPr>
            </a:pPr>
            <a:r>
              <a:t>Duplicate records reported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88920"/>
            <a:ext cx="5074920" cy="242316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2834639"/>
            <a:ext cx="50292" cy="2331720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2916936"/>
            <a:ext cx="4782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2ED2EB"/>
                </a:solidFill>
                <a:latin typeface="Aptos"/>
              </a:defRPr>
            </a:pPr>
            <a:r>
              <a:t>DATASET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355848"/>
            <a:ext cx="4764024" cy="1764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F7FBFF"/>
                </a:solidFill>
                <a:latin typeface="Aptos"/>
              </a:defRPr>
            </a:pPr>
            <a:r>
              <a:t>Dataset: Cleaned Flight Price Prediction Dataset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7FBFF"/>
                </a:solidFill>
                <a:latin typeface="Aptos"/>
              </a:defRPr>
            </a:pPr>
            <a:r>
              <a:t>Target variable: price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7FBFF"/>
                </a:solidFill>
                <a:latin typeface="Aptos"/>
              </a:defRPr>
            </a:pPr>
            <a:r>
              <a:t>Observation period: February and March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788920"/>
            <a:ext cx="5257800" cy="242316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2834639"/>
            <a:ext cx="50292" cy="2331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6792" y="2916936"/>
            <a:ext cx="49651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0F766E"/>
                </a:solidFill>
                <a:latin typeface="Aptos"/>
              </a:defRPr>
            </a:pPr>
            <a:r>
              <a:t>IMPORTANT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3355848"/>
            <a:ext cx="4946904" cy="1764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r>
              <a:t>• Airline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r>
              <a:t>• Source and destination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r>
              <a:t>• Travel class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r>
              <a:t>• Departure and arrival times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r>
              <a:t>• Journey duration and number of stops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10789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B8CDE0"/>
                </a:solidFill>
                <a:latin typeface="Aptos"/>
              </a:defRPr>
            </a:pPr>
            <a:r>
              <a:t>Purpose: Help the model learn relationships between flight details and ticket prices.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8CDE0"/>
                </a:solidFill>
                <a:latin typeface="Aptos"/>
              </a:defRPr>
            </a:pPr>
            <a:r>
              <a:t>AEROFARE  |  FLIGHT PRICE PREDICTION USING MACHINE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8CDE0"/>
                </a:solidFill>
                <a:latin typeface="Aptos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ED2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698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7FBFF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960120"/>
            <a:ext cx="10515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Tools and platforms used across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57800" cy="749808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280160"/>
            <a:ext cx="50292" cy="658368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362456"/>
            <a:ext cx="49651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ED2EB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697092"/>
            <a:ext cx="4946904" cy="91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7FBFF"/>
                </a:solidFill>
                <a:latin typeface="Aptos"/>
              </a:defRPr>
            </a:pPr>
            <a:r>
              <a:rPr dirty="0"/>
              <a:t>Main programming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34440"/>
            <a:ext cx="5257800" cy="749808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0292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362456"/>
            <a:ext cx="49651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F766E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687070"/>
            <a:ext cx="4946904" cy="91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7FBFF"/>
                </a:solidFill>
                <a:latin typeface="Aptos"/>
              </a:defRPr>
            </a:pPr>
            <a:r>
              <a:rPr dirty="0"/>
              <a:t>Data manipulation and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194560"/>
            <a:ext cx="5257800" cy="749808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2240280"/>
            <a:ext cx="50292" cy="658368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2322576"/>
            <a:ext cx="49651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ED2EB"/>
                </a:solidFill>
                <a:latin typeface="Aptos"/>
              </a:defRPr>
            </a:pPr>
            <a:r>
              <a:t>NumPy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2647190"/>
            <a:ext cx="4946904" cy="91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7FBFF"/>
                </a:solidFill>
                <a:latin typeface="Aptos"/>
              </a:defRPr>
            </a:pPr>
            <a:r>
              <a:rPr dirty="0"/>
              <a:t>Numerical computations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194560"/>
            <a:ext cx="5257800" cy="749808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2240280"/>
            <a:ext cx="50292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5392" y="2322576"/>
            <a:ext cx="49651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F766E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2670049"/>
            <a:ext cx="4946904" cy="91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7FBFF"/>
                </a:solidFill>
                <a:latin typeface="Aptos"/>
              </a:defRPr>
            </a:pPr>
            <a:r>
              <a:rPr dirty="0"/>
              <a:t>Model development and evaluation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154680"/>
            <a:ext cx="5257800" cy="749808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3200400"/>
            <a:ext cx="50292" cy="658368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" y="3282696"/>
            <a:ext cx="49651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ED2EB"/>
                </a:solidFill>
                <a:latin typeface="Aptos"/>
              </a:defRPr>
            </a:pPr>
            <a:r>
              <a:t>Random Forest Regressor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3616277"/>
            <a:ext cx="4946904" cy="91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7FBFF"/>
                </a:solidFill>
                <a:latin typeface="Aptos"/>
              </a:defRPr>
            </a:pPr>
            <a:r>
              <a:rPr dirty="0"/>
              <a:t>Flight fare prediction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154680"/>
            <a:ext cx="5257800" cy="749808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3200400"/>
            <a:ext cx="50292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3282696"/>
            <a:ext cx="49651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F766E"/>
                </a:solidFill>
                <a:latin typeface="Aptos"/>
              </a:defRPr>
            </a:pPr>
            <a:r>
              <a:t>Joblib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3616276"/>
            <a:ext cx="4946904" cy="91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7FBFF"/>
                </a:solidFill>
                <a:latin typeface="Aptos"/>
              </a:defRPr>
            </a:pPr>
            <a:r>
              <a:rPr dirty="0"/>
              <a:t>Save and load trained model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114800"/>
            <a:ext cx="5257800" cy="749808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4160520"/>
            <a:ext cx="50292" cy="658368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" y="4242816"/>
            <a:ext cx="49651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ED2EB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539998"/>
            <a:ext cx="4946904" cy="91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7FBFF"/>
                </a:solidFill>
                <a:latin typeface="Aptos"/>
              </a:defRPr>
            </a:pPr>
            <a:r>
              <a:rPr dirty="0"/>
              <a:t>Interactive web application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114800"/>
            <a:ext cx="5257800" cy="749808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4160520"/>
            <a:ext cx="50292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65392" y="4242816"/>
            <a:ext cx="49651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F766E"/>
                </a:solidFill>
                <a:latin typeface="Aptos"/>
              </a:defRPr>
            </a:pPr>
            <a:r>
              <a:t>Hugging Face Hub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4567430"/>
            <a:ext cx="4946904" cy="91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7FBFF"/>
                </a:solidFill>
                <a:latin typeface="Aptos"/>
              </a:defRPr>
            </a:pPr>
            <a:r>
              <a:rPr dirty="0"/>
              <a:t>Private model and dataset hosting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074920"/>
            <a:ext cx="5257800" cy="749808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77240" y="5120640"/>
            <a:ext cx="50292" cy="658368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" y="5202936"/>
            <a:ext cx="49651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ED2EB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504688"/>
            <a:ext cx="4946904" cy="91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7FBFF"/>
                </a:solidFill>
                <a:latin typeface="Aptos"/>
              </a:defRPr>
            </a:pPr>
            <a:r>
              <a:rPr dirty="0"/>
              <a:t>Source code management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5074920"/>
            <a:ext cx="5257800" cy="749808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00800" y="5120640"/>
            <a:ext cx="50292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65392" y="5202936"/>
            <a:ext cx="49651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F766E"/>
                </a:solidFill>
                <a:latin typeface="Aptos"/>
              </a:defRPr>
            </a:pPr>
            <a:r>
              <a:t>Streamlit Community Cloud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56248" y="5550407"/>
            <a:ext cx="4946904" cy="91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7FBFF"/>
                </a:solidFill>
                <a:latin typeface="Aptos"/>
              </a:defRPr>
            </a:pPr>
            <a:r>
              <a:rPr dirty="0"/>
              <a:t>Online application hosting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19672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8CDE0"/>
                </a:solidFill>
                <a:latin typeface="Aptos"/>
              </a:defRPr>
            </a:pPr>
            <a:r>
              <a:t>AEROFARE  |  FLIGHT PRICE PREDICTION USING MACHINE LEARNING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8CDE0"/>
                </a:solidFill>
                <a:latin typeface="Aptos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ED2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698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7FBFF"/>
                </a:solidFill>
                <a:latin typeface="Aptos"/>
              </a:defRPr>
            </a:pPr>
            <a:r>
              <a:t>Machine Learning Model — Random Forest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960120"/>
            <a:ext cx="10515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How flight details become a fare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8813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8CDE0"/>
                </a:solidFill>
                <a:latin typeface="Aptos"/>
              </a:defRPr>
            </a:pPr>
            <a:r>
              <a:t>Random Forest combines predictions from multiple decision trees to estimate a numerical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120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ED2EB"/>
                </a:solidFill>
                <a:latin typeface="Aptos"/>
              </a:defRPr>
            </a:pPr>
            <a:r>
              <a:t>MODEL DIAGRAM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1920240" cy="91440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50292" cy="822960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276856"/>
            <a:ext cx="16276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ED2E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15768"/>
            <a:ext cx="160934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7FBFF"/>
                </a:solidFill>
                <a:latin typeface="Aptos"/>
              </a:defRPr>
            </a:pPr>
            <a:r>
              <a:t>Flight details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97480" y="2606040"/>
            <a:ext cx="365760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08960" y="2148840"/>
            <a:ext cx="1965960" cy="91440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08960" y="2194560"/>
            <a:ext cx="50292" cy="822960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73552" y="2276856"/>
            <a:ext cx="16733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ED2EB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2715768"/>
            <a:ext cx="1655063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7FBFF"/>
                </a:solidFill>
                <a:latin typeface="Aptos"/>
              </a:defRPr>
            </a:pPr>
            <a:r>
              <a:t>Feature processing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20640" y="2606040"/>
            <a:ext cx="365760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532120" y="1965960"/>
            <a:ext cx="1828800" cy="658368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532120" y="2011679"/>
            <a:ext cx="50292" cy="5669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96712" y="2093976"/>
            <a:ext cx="15361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F766E"/>
                </a:solidFill>
                <a:latin typeface="Aptos"/>
              </a:defRPr>
            </a:pPr>
            <a:r>
              <a:t>TREE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96712" y="2532888"/>
            <a:ext cx="1517904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7FBFF"/>
                </a:solidFill>
                <a:latin typeface="Aptos"/>
              </a:defRPr>
            </a:pPr>
            <a:r>
              <a:t>Prediction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2120" y="2743200"/>
            <a:ext cx="1828800" cy="658368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532120" y="2788920"/>
            <a:ext cx="50292" cy="5669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96712" y="2871216"/>
            <a:ext cx="15361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F766E"/>
                </a:solidFill>
                <a:latin typeface="Aptos"/>
              </a:defRPr>
            </a:pPr>
            <a:r>
              <a:t>TREE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96712" y="3310128"/>
            <a:ext cx="1517904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7FBFF"/>
                </a:solidFill>
                <a:latin typeface="Aptos"/>
              </a:defRPr>
            </a:pPr>
            <a:r>
              <a:t>Prediction 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2120" y="3520440"/>
            <a:ext cx="1828800" cy="658368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532120" y="3566160"/>
            <a:ext cx="50292" cy="5669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96712" y="3648456"/>
            <a:ext cx="15361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F766E"/>
                </a:solidFill>
                <a:latin typeface="Aptos"/>
              </a:defRPr>
            </a:pPr>
            <a:r>
              <a:t>TREE 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4087368"/>
            <a:ext cx="1517904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7FBFF"/>
                </a:solidFill>
                <a:latin typeface="Aptos"/>
              </a:defRPr>
            </a:pPr>
            <a:r>
              <a:t>Prediction 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06640" y="2304288"/>
            <a:ext cx="411480" cy="576072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06640" y="3072384"/>
            <a:ext cx="411480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406640" y="3273552"/>
            <a:ext cx="411480" cy="566928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863840" y="2697480"/>
            <a:ext cx="1600200" cy="86868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863840" y="2743200"/>
            <a:ext cx="50292" cy="777240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28431" y="2825496"/>
            <a:ext cx="13075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ED2EB"/>
                </a:solidFill>
                <a:latin typeface="Aptos"/>
              </a:defRPr>
            </a:pPr>
            <a:r>
              <a:t>COMBINE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1" y="3264408"/>
            <a:ext cx="1289304" cy="21031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7FBFF"/>
                </a:solidFill>
                <a:latin typeface="Aptos"/>
              </a:defRPr>
            </a:pPr>
            <a:r>
              <a:t>Average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509760" y="3127248"/>
            <a:ext cx="320040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875520" y="2697480"/>
            <a:ext cx="1600200" cy="86868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875520" y="2743200"/>
            <a:ext cx="50292" cy="7772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40112" y="2825496"/>
            <a:ext cx="13075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F766E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0112" y="3264408"/>
            <a:ext cx="1289304" cy="21031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7FBFF"/>
                </a:solidFill>
                <a:latin typeface="Aptos"/>
              </a:defRPr>
            </a:pPr>
            <a:r>
              <a:t>Estimated 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572000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ED2EB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983480"/>
            <a:ext cx="2514600" cy="73152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2" y="5102352"/>
            <a:ext cx="320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2ED2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1288" y="5056632"/>
            <a:ext cx="19659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7FBFF"/>
                </a:solidFill>
                <a:latin typeface="Aptos"/>
              </a:defRPr>
            </a:pPr>
            <a:r>
              <a:t>Enter journey details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55263" y="5349240"/>
            <a:ext cx="237745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520439" y="4983480"/>
            <a:ext cx="2514600" cy="73152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93591" y="5102352"/>
            <a:ext cx="320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2ED2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50207" y="5056632"/>
            <a:ext cx="19659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7FBFF"/>
                </a:solidFill>
                <a:latin typeface="Aptos"/>
              </a:defRPr>
            </a:pPr>
            <a:r>
              <a:t>Process model features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44183" y="5349240"/>
            <a:ext cx="237744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309359" y="4983480"/>
            <a:ext cx="2514600" cy="73152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82512" y="5102352"/>
            <a:ext cx="320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2ED2E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39127" y="5056632"/>
            <a:ext cx="19659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7FBFF"/>
                </a:solidFill>
                <a:latin typeface="Aptos"/>
              </a:defRPr>
            </a:pPr>
            <a:r>
              <a:t>Combine tree predictions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833104" y="5349240"/>
            <a:ext cx="237744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9098280" y="4983480"/>
            <a:ext cx="2514600" cy="73152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71432" y="5102352"/>
            <a:ext cx="320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2ED2E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28048" y="5056632"/>
            <a:ext cx="19659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7FBFF"/>
                </a:solidFill>
                <a:latin typeface="Aptos"/>
              </a:defRPr>
            </a:pPr>
            <a:r>
              <a:t>Display estimated fare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5961888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DE0"/>
                </a:solidFill>
                <a:latin typeface="Aptos"/>
              </a:defRPr>
            </a:pPr>
            <a:r>
              <a:t>Why Random Forest? It can learn complex relationships among multiple prepared numerical and categorical features.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519672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8CDE0"/>
                </a:solidFill>
                <a:latin typeface="Aptos"/>
              </a:defRPr>
            </a:pPr>
            <a:r>
              <a:t>AEROFARE  |  FLIGHT PRICE PREDICTION USING MACHINE LEARNING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8CDE0"/>
                </a:solidFill>
                <a:latin typeface="Aptos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ED2E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698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7FBFF"/>
                </a:solidFill>
                <a:latin typeface="Aptos"/>
              </a:defRPr>
            </a:pPr>
            <a:r>
              <a:t>Model Evaluation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960120"/>
            <a:ext cx="10515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Recorded test-set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224028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63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31546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F7FBFF"/>
                </a:solidFill>
                <a:latin typeface="Aptos"/>
              </a:defRPr>
            </a:pPr>
            <a:r>
              <a:t>₹1,434.21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288036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Average absolute difference between actual and predicted fares.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00200"/>
            <a:ext cx="3429000" cy="224028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828800"/>
            <a:ext cx="3063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267712"/>
            <a:ext cx="31546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F7FBFF"/>
                </a:solidFill>
                <a:latin typeface="Aptos"/>
              </a:defRPr>
            </a:pPr>
            <a:r>
              <a:t>₹3,127.39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971800"/>
            <a:ext cx="288036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Penalizes larger prediction errors more heavily.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600200"/>
            <a:ext cx="3429000" cy="224028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1828800"/>
            <a:ext cx="3063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R²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267712"/>
            <a:ext cx="31546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2600" b="1">
                <a:solidFill>
                  <a:srgbClr val="F7FBFF"/>
                </a:solidFill>
                <a:latin typeface="Aptos"/>
              </a:defRPr>
            </a:pPr>
            <a:r>
              <a:t>0.9811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971800"/>
            <a:ext cx="288036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Measures fit relative to a mean-prediction baseline.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43400"/>
            <a:ext cx="10287000" cy="114300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4389120"/>
            <a:ext cx="502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4471416"/>
            <a:ext cx="99943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F766E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910328"/>
            <a:ext cx="9976104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7FBFF"/>
                </a:solidFill>
                <a:latin typeface="Aptos"/>
              </a:defRPr>
            </a:pPr>
            <a:r>
              <a:t>The recorded test results indicate a strong fit on the evaluated data. They do not guarantee the same performance on future fares or unseen routes.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9672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8CDE0"/>
                </a:solidFill>
                <a:latin typeface="Aptos"/>
              </a:defRPr>
            </a:pPr>
            <a:r>
              <a:t>AEROFARE  |  FLIGHT PRICE PREDICTION USING MACHINE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8CDE0"/>
                </a:solidFill>
                <a:latin typeface="Aptos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ED2E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698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7FBFF"/>
                </a:solidFill>
                <a:latin typeface="Aptos"/>
              </a:defRPr>
            </a:pPr>
            <a:r>
              <a:t>AeroFare Web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960120"/>
            <a:ext cx="10515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Interactive inputs and estimated fare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47548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ED2EB"/>
                </a:solidFill>
                <a:latin typeface="Aptos"/>
              </a:defRPr>
            </a:pPr>
            <a:r>
              <a:t>APPLICATION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754880" cy="36118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7FBFF"/>
                </a:solidFill>
                <a:latin typeface="Aptos"/>
              </a:defRPr>
            </a:pPr>
            <a:r>
              <a:t>•  Interactive flight details form.</a:t>
            </a:r>
          </a:p>
          <a:p>
            <a:pPr>
              <a:spcAft>
                <a:spcPts val="1000"/>
              </a:spcAft>
              <a:defRPr sz="1600">
                <a:solidFill>
                  <a:srgbClr val="F7FBFF"/>
                </a:solidFill>
                <a:latin typeface="Aptos"/>
              </a:defRPr>
            </a:pPr>
            <a:r>
              <a:t>•  Airline, source, destination, and travel class selection.</a:t>
            </a:r>
          </a:p>
          <a:p>
            <a:pPr>
              <a:spcAft>
                <a:spcPts val="1000"/>
              </a:spcAft>
              <a:defRPr sz="1600">
                <a:solidFill>
                  <a:srgbClr val="F7FBFF"/>
                </a:solidFill>
                <a:latin typeface="Aptos"/>
              </a:defRPr>
            </a:pPr>
            <a:r>
              <a:t>•  Departure and arrival time inputs.</a:t>
            </a:r>
          </a:p>
          <a:p>
            <a:pPr>
              <a:spcAft>
                <a:spcPts val="1000"/>
              </a:spcAft>
              <a:defRPr sz="1600">
                <a:solidFill>
                  <a:srgbClr val="F7FBFF"/>
                </a:solidFill>
                <a:latin typeface="Aptos"/>
              </a:defRPr>
            </a:pPr>
            <a:r>
              <a:t>•  Journey duration and number of stops.</a:t>
            </a:r>
          </a:p>
          <a:p>
            <a:pPr>
              <a:spcAft>
                <a:spcPts val="1000"/>
              </a:spcAft>
              <a:defRPr sz="1600">
                <a:solidFill>
                  <a:srgbClr val="F7FBFF"/>
                </a:solidFill>
                <a:latin typeface="Aptos"/>
              </a:defRPr>
            </a:pPr>
            <a:r>
              <a:t>•  Estimated ticket price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303520"/>
            <a:ext cx="4800600" cy="713232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5349240"/>
            <a:ext cx="50292" cy="6217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9828" y="5379486"/>
            <a:ext cx="450799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0F766E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" y="5724144"/>
            <a:ext cx="4489704" cy="54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7FBFF"/>
                </a:solidFill>
                <a:latin typeface="Aptos"/>
              </a:defRPr>
            </a:pPr>
            <a:r>
              <a:rPr dirty="0"/>
              <a:t>User inputs → trained model → estimated fare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80360"/>
            <a:ext cx="457200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145D8E"/>
                </a:solidFill>
                <a:latin typeface="Aptos"/>
              </a:defRPr>
            </a:pP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8CDE0"/>
                </a:solidFill>
                <a:latin typeface="Aptos"/>
              </a:defRPr>
            </a:pPr>
            <a:r>
              <a:t>AEROFARE  |  FLIGHT PRICE PREDICTION USING MACHINE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8CDE0"/>
                </a:solidFill>
                <a:latin typeface="Aptos"/>
              </a:defRPr>
            </a:pPr>
            <a:r>
              <a:t>09 / 12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34A7E30-70E6-3DE3-143E-802EB97DB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161" y="255838"/>
            <a:ext cx="5633196" cy="265214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F92FA88-8D2C-58DD-287E-9CC835DD6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162" y="2944368"/>
            <a:ext cx="5530166" cy="2773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ED2E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698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7FBFF"/>
                </a:solidFill>
                <a:latin typeface="Aptos"/>
              </a:defRPr>
            </a:pPr>
            <a:r>
              <a:t>Deployment &amp;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960120"/>
            <a:ext cx="10515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How the trained model is made available through the web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337560" cy="1234440"/>
          </a:xfrm>
          <a:prstGeom prst="roundRect">
            <a:avLst/>
          </a:prstGeom>
          <a:solidFill>
            <a:srgbClr val="0D2B4B"/>
          </a:solidFill>
          <a:ln>
            <a:solidFill>
              <a:srgbClr val="2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27631"/>
            <a:ext cx="3840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18488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7FBFF"/>
                </a:solidFill>
                <a:latin typeface="Aptos"/>
              </a:defRPr>
            </a:pPr>
            <a:r>
              <a:t>Train &amp; evaluate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Random Forest model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42232" y="2130552"/>
            <a:ext cx="338327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0" y="1508760"/>
            <a:ext cx="3337560" cy="1234440"/>
          </a:xfrm>
          <a:prstGeom prst="roundRect">
            <a:avLst/>
          </a:prstGeom>
          <a:solidFill>
            <a:srgbClr val="0D2B4B"/>
          </a:solidFill>
          <a:ln>
            <a:solidFill>
              <a:srgbClr val="2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627631"/>
            <a:ext cx="3840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618488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7FBFF"/>
                </a:solidFill>
                <a:latin typeface="Aptos"/>
              </a:defRPr>
            </a:pPr>
            <a:r>
              <a:t>Save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011680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Joblib file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36992" y="2130552"/>
            <a:ext cx="338328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66760" y="1508760"/>
            <a:ext cx="3337560" cy="1234440"/>
          </a:xfrm>
          <a:prstGeom prst="roundRect">
            <a:avLst/>
          </a:prstGeom>
          <a:solidFill>
            <a:srgbClr val="0D2B4B"/>
          </a:solidFill>
          <a:ln>
            <a:solidFill>
              <a:srgbClr val="2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627631"/>
            <a:ext cx="3840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618488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7FBFF"/>
                </a:solidFill>
                <a:latin typeface="Aptos"/>
              </a:defRPr>
            </a:pPr>
            <a:r>
              <a:t>Host 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011680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Private Hugging Face Hub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474720"/>
            <a:ext cx="3337560" cy="1234440"/>
          </a:xfrm>
          <a:prstGeom prst="roundRect">
            <a:avLst/>
          </a:prstGeom>
          <a:solidFill>
            <a:srgbClr val="145D8E"/>
          </a:solidFill>
          <a:ln>
            <a:solidFill>
              <a:srgbClr val="2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593591"/>
            <a:ext cx="3840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584448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7FBFF"/>
                </a:solidFill>
                <a:latin typeface="Aptos"/>
              </a:defRPr>
            </a:pPr>
            <a:r>
              <a:t>Build 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77639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Streamlit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42232" y="4096511"/>
            <a:ext cx="338327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72000" y="3474720"/>
            <a:ext cx="3337560" cy="1234440"/>
          </a:xfrm>
          <a:prstGeom prst="roundRect">
            <a:avLst/>
          </a:prstGeom>
          <a:solidFill>
            <a:srgbClr val="145D8E"/>
          </a:solidFill>
          <a:ln>
            <a:solidFill>
              <a:srgbClr val="2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9160" y="3593591"/>
            <a:ext cx="3840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3584448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7FBFF"/>
                </a:solidFill>
                <a:latin typeface="Aptos"/>
              </a:defRPr>
            </a:pPr>
            <a:r>
              <a:t>Manage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3977639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GitHub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36992" y="4096511"/>
            <a:ext cx="338328" cy="0"/>
          </a:xfrm>
          <a:prstGeom prst="line">
            <a:avLst/>
          </a:prstGeom>
          <a:ln w="25400">
            <a:solidFill>
              <a:srgbClr val="2ED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66760" y="3474720"/>
            <a:ext cx="3337560" cy="1234440"/>
          </a:xfrm>
          <a:prstGeom prst="roundRect">
            <a:avLst/>
          </a:prstGeom>
          <a:solidFill>
            <a:srgbClr val="145D8E"/>
          </a:solidFill>
          <a:ln>
            <a:solidFill>
              <a:srgbClr val="2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3593591"/>
            <a:ext cx="38404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584448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7FBFF"/>
                </a:solidFill>
                <a:latin typeface="Aptos"/>
              </a:defRPr>
            </a:pPr>
            <a:r>
              <a:t>Deploy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977639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DE0"/>
                </a:solidFill>
                <a:latin typeface="Aptos"/>
              </a:defRPr>
            </a:pPr>
            <a:r>
              <a:t>Streamlit Community Cloud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" y="5623560"/>
            <a:ext cx="10149840" cy="566928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05840" y="5669280"/>
            <a:ext cx="50292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70432" y="5751576"/>
            <a:ext cx="98572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F766E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" y="5997057"/>
            <a:ext cx="9838944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7FBFF"/>
                </a:solidFill>
                <a:latin typeface="Aptos"/>
              </a:defRPr>
            </a:pPr>
            <a:r>
              <a:rPr dirty="0"/>
              <a:t>A deployed interface lets users submit flight details and receive an estimated fare, subject to access and availability.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9672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8CDE0"/>
                </a:solidFill>
                <a:latin typeface="Aptos"/>
              </a:defRPr>
            </a:pPr>
            <a:r>
              <a:t>AEROFARE  |  FLIGHT PRICE PREDICTION USING MACHINE LEARNING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8CDE0"/>
                </a:solidFill>
                <a:latin typeface="Aptos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ED2E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698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F7FBFF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832104"/>
            <a:ext cx="731520" cy="50292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166360" cy="452628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50292" cy="4434840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453895"/>
            <a:ext cx="487375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2ED2E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92807"/>
            <a:ext cx="4855464" cy="3867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r>
              <a:t>• Developed a Machine Learning-based flight fare estimation application.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r>
              <a:t>• Used historical flight data to train a Random Forest Regressor.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r>
              <a:t>• Evaluated the model using MAE, RMSE, and R² score.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r>
              <a:t>• Integrated the model into a Streamlit web application.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r>
              <a:t>• Configured cloud deployment for online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166360" cy="4526280"/>
          </a:xfrm>
          <a:prstGeom prst="roundRect">
            <a:avLst/>
          </a:prstGeom>
          <a:solidFill>
            <a:srgbClr val="0D2B4B"/>
          </a:solidFill>
          <a:ln>
            <a:solidFill>
              <a:srgbClr val="14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0292" cy="4434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453895"/>
            <a:ext cx="487375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F766E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892807"/>
            <a:ext cx="4855464" cy="3867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r>
              <a:t>• Expand the dataset to more months and routes.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r>
              <a:t>• Integrate authorized live flight fare APIs.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r>
              <a:t>• Validate on unseen dates and routes.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r>
              <a:t>• Compare additional regression algorithms.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r>
              <a:t>• Add prediction uncertainty estimates.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endParaRPr/>
          </a:p>
          <a:p>
            <a:pPr algn="l">
              <a:spcAft>
                <a:spcPts val="400"/>
              </a:spcAft>
              <a:defRPr sz="1500" b="0">
                <a:solidFill>
                  <a:srgbClr val="F7FBFF"/>
                </a:solidFill>
                <a:latin typeface="Aptos"/>
              </a:defRPr>
            </a:pPr>
            <a:r>
              <a:t>• Improve user experience.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106984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8CDE0"/>
                </a:solidFill>
                <a:latin typeface="Aptos"/>
              </a:defRPr>
            </a:pPr>
            <a:r>
              <a:rPr dirty="0"/>
              <a:t>GitHub: Flight Price Prediction Repository (</a:t>
            </a:r>
            <a:r>
              <a:rPr lang="en-IN" sz="1100" dirty="0">
                <a:solidFill>
                  <a:srgbClr val="B8CDE0"/>
                </a:solidFill>
                <a:latin typeface="Aptos"/>
                <a:hlinkClick r:id="rId3"/>
              </a:rPr>
              <a:t>github.com/shaswat44/Flight-fare-Prediction</a:t>
            </a:r>
            <a:r>
              <a:rPr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7772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8CDE0"/>
                </a:solidFill>
                <a:latin typeface="Aptos"/>
              </a:defRPr>
            </a:pPr>
            <a:r>
              <a:t>AEROFARE  |  FLIGHT PRICE PREDICTION USING 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8CDE0"/>
                </a:solidFill>
                <a:latin typeface="Aptos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0D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1828800" cy="1828800"/>
          </a:xfrm>
          <a:prstGeom prst="ellipse">
            <a:avLst/>
          </a:prstGeom>
          <a:solidFill>
            <a:srgbClr val="145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84080" y="1554480"/>
            <a:ext cx="914400" cy="914400"/>
          </a:xfrm>
          <a:prstGeom prst="ellipse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0" y="4251960"/>
            <a:ext cx="1188720" cy="1188720"/>
          </a:xfrm>
          <a:prstGeom prst="ellipse">
            <a:avLst/>
          </a:prstGeom>
          <a:solidFill>
            <a:srgbClr val="145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03920" y="5074920"/>
            <a:ext cx="502920" cy="502920"/>
          </a:xfrm>
          <a:prstGeom prst="ellipse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p Arrow 6"/>
          <p:cNvSpPr/>
          <p:nvPr/>
        </p:nvSpPr>
        <p:spPr>
          <a:xfrm rot="2520000">
            <a:off x="9372600" y="2240280"/>
            <a:ext cx="1645920" cy="1965960"/>
          </a:xfrm>
          <a:prstGeom prst="upArrow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0" y="4160520"/>
            <a:ext cx="914400" cy="292608"/>
          </a:xfrm>
          <a:prstGeom prst="ellipse">
            <a:avLst/>
          </a:prstGeom>
          <a:solidFill>
            <a:srgbClr val="E1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15400" y="4023360"/>
            <a:ext cx="1097280" cy="365760"/>
          </a:xfrm>
          <a:prstGeom prst="ellipse">
            <a:avLst/>
          </a:prstGeom>
          <a:solidFill>
            <a:srgbClr val="E1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46920" y="4160520"/>
            <a:ext cx="914400" cy="292608"/>
          </a:xfrm>
          <a:prstGeom prst="ellipse">
            <a:avLst/>
          </a:prstGeom>
          <a:solidFill>
            <a:srgbClr val="E1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914400"/>
            <a:ext cx="65836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ED2EB"/>
                </a:solidFill>
                <a:latin typeface="Aptos"/>
              </a:defRPr>
            </a:pPr>
            <a:r>
              <a:t>AEROFARE  •  INTERNSHIP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28800"/>
            <a:ext cx="65836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4400" b="1">
                <a:solidFill>
                  <a:srgbClr val="F7FB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743200"/>
            <a:ext cx="649224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B8CDE0"/>
                </a:solidFill>
                <a:latin typeface="Aptos"/>
              </a:defRPr>
            </a:pPr>
            <a:r>
              <a:t>Flight Price Prediction Using</a:t>
            </a:r>
          </a:p>
          <a:p>
            <a:pPr algn="l">
              <a:spcAft>
                <a:spcPts val="400"/>
              </a:spcAft>
              <a:defRPr sz="2100" b="1">
                <a:solidFill>
                  <a:srgbClr val="B8CDE0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3657600"/>
            <a:ext cx="822960" cy="54864"/>
          </a:xfrm>
          <a:prstGeom prst="rect">
            <a:avLst/>
          </a:prstGeom>
          <a:solidFill>
            <a:srgbClr val="2ED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977639"/>
            <a:ext cx="6675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ED2EB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315968"/>
            <a:ext cx="681228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7FBFF"/>
                </a:solidFill>
                <a:latin typeface="Aptos"/>
              </a:defRPr>
            </a:pPr>
            <a:r>
              <a:t>Shaswat Bhatnagar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F7FBFF"/>
                </a:solidFill>
                <a:latin typeface="Aptos"/>
              </a:defRPr>
            </a:pPr>
            <a:r>
              <a:t>Kanishka Gaikwad  •  Javiya Chelsy RajeshKumar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532120"/>
            <a:ext cx="6675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B8CDE0"/>
                </a:solidFill>
                <a:latin typeface="Aptos"/>
              </a:defRPr>
            </a:pPr>
            <a:r>
              <a:t>Naviotech Solution Pvt. Ltd.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943600"/>
            <a:ext cx="6675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ED2EB"/>
                </a:solidFill>
                <a:latin typeface="Aptos"/>
              </a:defRPr>
            </a:pPr>
            <a:r>
              <a:t>Questions &amp;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>
                <a:solidFill>
                  <a:srgbClr val="B8CDE0"/>
                </a:solidFill>
                <a:latin typeface="Aptos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1009</Words>
  <Application>Microsoft Office PowerPoint</Application>
  <PresentationFormat>Widescreen</PresentationFormat>
  <Paragraphs>241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shaswat bhatnagar</cp:lastModifiedBy>
  <cp:revision>2</cp:revision>
  <dcterms:created xsi:type="dcterms:W3CDTF">2013-01-27T09:14:16Z</dcterms:created>
  <dcterms:modified xsi:type="dcterms:W3CDTF">2026-10-22T16:46:37Z</dcterms:modified>
  <cp:category/>
</cp:coreProperties>
</file>